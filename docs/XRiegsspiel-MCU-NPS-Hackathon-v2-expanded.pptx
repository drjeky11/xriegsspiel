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571"/>
  </p:normalViewPr>
  <p:slideViewPr>
    <p:cSldViewPr snapToGrid="0">
      <p:cViewPr varScale="1">
        <p:scale>
          <a:sx n="115" d="100"/>
          <a:sy n="115" d="100"/>
        </p:scale>
        <p:origin x="10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0:00–0:25 (25 seconds)</a:t>
            </a:r>
          </a:p>
          <a:p>
            <a:endParaRPr dirty="0"/>
          </a:p>
          <a:p>
            <a:r>
              <a:rPr dirty="0"/>
              <a:t>I’m Fabio Garcia, creator of </a:t>
            </a:r>
            <a:r>
              <a:rPr dirty="0" err="1"/>
              <a:t>XRiegsspiel</a:t>
            </a:r>
            <a:r>
              <a:rPr dirty="0"/>
              <a:t>. I’m building a tabletop wargaming platform for training and education, with Quest as the primary interface and browser access alongside it. I’ll show the current experience, how the AI supports practice, and how the database preserves decisions so an instructor can return to them afterward.</a:t>
            </a:r>
          </a:p>
          <a:p>
            <a:endParaRPr dirty="0"/>
          </a:p>
          <a:p>
            <a:r>
              <a:rPr dirty="0"/>
              <a:t>Sources: owner instructions in this task; </a:t>
            </a:r>
            <a:r>
              <a:rPr dirty="0" err="1"/>
              <a:t>README.md</a:t>
            </a:r>
            <a:r>
              <a:rPr dirty="0"/>
              <a:t>; docs/product-</a:t>
            </a:r>
            <a:r>
              <a:rPr dirty="0" err="1"/>
              <a:t>requirements.md</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0:25–1:05 (40 seconds)</a:t>
            </a:r>
          </a:p>
          <a:p>
            <a:pPr marL="0" lvl="0" indent="0" algn="l">
              <a:spcBef>
                <a:spcPts val="0"/>
              </a:spcBef>
              <a:spcAft>
                <a:spcPts val="0"/>
              </a:spcAft>
              <a:buNone/>
            </a:pPr>
            <a:endParaRPr dirty="0"/>
          </a:p>
          <a:p>
            <a:pPr marL="0" lvl="0" indent="0" algn="l">
              <a:spcBef>
                <a:spcPts val="0"/>
              </a:spcBef>
              <a:spcAft>
                <a:spcPts val="0"/>
              </a:spcAft>
              <a:buNone/>
            </a:pPr>
            <a:r>
              <a:rPr dirty="0"/>
              <a:t>Online wargames already provide valuable ways to practice. Our goal is to bring learners together across different interfaces while making the exercise easier to understand.</a:t>
            </a:r>
          </a:p>
          <a:p>
            <a:pPr marL="0" lvl="0" indent="0" algn="l">
              <a:spcBef>
                <a:spcPts val="0"/>
              </a:spcBef>
              <a:spcAft>
                <a:spcPts val="0"/>
              </a:spcAft>
              <a:buNone/>
            </a:pPr>
            <a:endParaRPr dirty="0"/>
          </a:p>
          <a:p>
            <a:pPr marL="0" lvl="0" indent="0" algn="l">
              <a:spcBef>
                <a:spcPts val="0"/>
              </a:spcBef>
              <a:spcAft>
                <a:spcPts val="0"/>
              </a:spcAft>
              <a:buNone/>
            </a:pPr>
            <a:r>
              <a:rPr dirty="0"/>
              <a:t>Rule lookups and bookkeeping compete with the planning conversation. And a final score tells an instructor very little about why a learner made a choice.</a:t>
            </a:r>
          </a:p>
          <a:p>
            <a:pPr marL="0" lvl="0" indent="0" algn="l">
              <a:spcBef>
                <a:spcPts val="0"/>
              </a:spcBef>
              <a:spcAft>
                <a:spcPts val="0"/>
              </a:spcAft>
              <a:buNone/>
            </a:pPr>
            <a:endParaRPr dirty="0"/>
          </a:p>
          <a:p>
            <a:pPr marL="0" lvl="0" indent="0" algn="l">
              <a:spcBef>
                <a:spcPts val="0"/>
              </a:spcBef>
              <a:spcAft>
                <a:spcPts val="0"/>
              </a:spcAft>
              <a:buNone/>
            </a:pPr>
            <a:r>
              <a:rPr dirty="0" err="1"/>
              <a:t>XRiegsspiel</a:t>
            </a:r>
            <a:r>
              <a:rPr dirty="0"/>
              <a:t> connects the board, permitted actions and decision history. The headset offers a spatial tabletop, while browser access lets people participate without owning a headset. Broader remote collaboration is our next direction.</a:t>
            </a:r>
          </a:p>
          <a:p>
            <a:pPr marL="0" lvl="0" indent="0" algn="l">
              <a:spcBef>
                <a:spcPts val="0"/>
              </a:spcBef>
              <a:spcAft>
                <a:spcPts val="0"/>
              </a:spcAft>
              <a:buNone/>
            </a:pPr>
            <a:endParaRPr dirty="0"/>
          </a:p>
          <a:p>
            <a:pPr marL="0" lvl="0" indent="0" algn="l">
              <a:spcBef>
                <a:spcPts val="0"/>
              </a:spcBef>
              <a:spcAft>
                <a:spcPts val="0"/>
              </a:spcAft>
              <a:buNone/>
            </a:pPr>
            <a:r>
              <a:rPr dirty="0"/>
              <a:t>Sources: docs/product-</a:t>
            </a:r>
            <a:r>
              <a:rPr dirty="0" err="1"/>
              <a:t>requirements.md</a:t>
            </a:r>
            <a:r>
              <a:rPr dirty="0"/>
              <a:t>, “Proposed first user journey” and owner future-development direction; docs/exercise-</a:t>
            </a:r>
            <a:r>
              <a:rPr dirty="0" err="1"/>
              <a:t>database.md</a:t>
            </a:r>
            <a:r>
              <a:rPr dirty="0"/>
              <a:t>. Reduced burden and improved learning remain goals to evaluate.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1:05–3:00 (115 seconds, including a 90-second VR demonstration)</a:t>
            </a:r>
          </a:p>
          <a:p>
            <a:pPr marL="0" lvl="0" indent="0" algn="l">
              <a:spcBef>
                <a:spcPts val="0"/>
              </a:spcBef>
              <a:spcAft>
                <a:spcPts val="0"/>
              </a:spcAft>
              <a:buNone/>
            </a:pPr>
            <a:endParaRPr dirty="0"/>
          </a:p>
          <a:p>
            <a:pPr marL="0" lvl="0" indent="0" algn="l">
              <a:spcBef>
                <a:spcPts val="0"/>
              </a:spcBef>
              <a:spcAft>
                <a:spcPts val="0"/>
              </a:spcAft>
              <a:buNone/>
            </a:pPr>
            <a:r>
              <a:rPr dirty="0"/>
              <a:t>This browser capture shows Second Thomas Resupply. The player can see a route and a warning about a nearby patrol before committing. The application supports geographic pieces, eight authored scenarios and three difficulty levels, with automatic bookkeeping and human referee controls.</a:t>
            </a:r>
          </a:p>
          <a:p>
            <a:pPr marL="0" lvl="0" indent="0" algn="l">
              <a:spcBef>
                <a:spcPts val="0"/>
              </a:spcBef>
              <a:spcAft>
                <a:spcPts val="0"/>
              </a:spcAft>
              <a:buNone/>
            </a:pPr>
            <a:endParaRPr dirty="0"/>
          </a:p>
          <a:p>
            <a:pPr marL="0" lvl="0" indent="0" algn="l">
              <a:spcBef>
                <a:spcPts val="0"/>
              </a:spcBef>
              <a:spcAft>
                <a:spcPts val="0"/>
              </a:spcAft>
              <a:buNone/>
            </a:pPr>
            <a:r>
              <a:rPr dirty="0"/>
              <a:t>[Play the 90-second VR demonstration here, narrated live. Use the browser screenshot as the still-image fallback. Explain the actual choice and consequence shown in the recording.]</a:t>
            </a:r>
          </a:p>
          <a:p>
            <a:pPr marL="0" lvl="0" indent="0" algn="l">
              <a:spcBef>
                <a:spcPts val="0"/>
              </a:spcBef>
              <a:spcAft>
                <a:spcPts val="0"/>
              </a:spcAft>
              <a:buNone/>
            </a:pPr>
            <a:endParaRPr dirty="0"/>
          </a:p>
          <a:p>
            <a:pPr marL="0" lvl="0" indent="0" algn="l">
              <a:spcBef>
                <a:spcPts val="0"/>
              </a:spcBef>
              <a:spcAft>
                <a:spcPts val="0"/>
              </a:spcAft>
              <a:buNone/>
            </a:pPr>
            <a:r>
              <a:rPr dirty="0"/>
              <a:t>Sources: docs/ai-</a:t>
            </a:r>
            <a:r>
              <a:rPr dirty="0" err="1"/>
              <a:t>opponent.md</a:t>
            </a:r>
            <a:r>
              <a:rPr dirty="0"/>
              <a:t>; docs/playable-</a:t>
            </a:r>
            <a:r>
              <a:rPr dirty="0" err="1"/>
              <a:t>terrain.md</a:t>
            </a:r>
            <a:r>
              <a:rPr dirty="0"/>
              <a:t>; screenshot 24-ai-route-preview-patrol-warning.png. All demonstration screenshots 21–34 come from the same six-round exercise. The actual final result was Red wins, Blue 40 / Red 100. The record is a referee-modified teaching run. Do not imply a successful Blue delivery or that a separate VR recording is the same exercise without checking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3:00–3:50 (50 seconds)</a:t>
            </a:r>
          </a:p>
          <a:p>
            <a:pPr marL="0" lvl="0" indent="0" algn="l">
              <a:spcBef>
                <a:spcPts val="0"/>
              </a:spcBef>
              <a:spcAft>
                <a:spcPts val="0"/>
              </a:spcAft>
              <a:buNone/>
            </a:pPr>
            <a:endParaRPr dirty="0"/>
          </a:p>
          <a:p>
            <a:pPr marL="0" lvl="0" indent="0" algn="l">
              <a:spcBef>
                <a:spcPts val="0"/>
              </a:spcBef>
              <a:spcAft>
                <a:spcPts val="0"/>
              </a:spcAft>
              <a:buNone/>
            </a:pPr>
            <a:r>
              <a:rPr dirty="0"/>
              <a:t>The opponent and the Sensei do different jobs. The opponent uses authored priorities and search to plan its moves. In my own play, even a delivery task can become difficult against it.</a:t>
            </a:r>
          </a:p>
          <a:p>
            <a:pPr marL="0" lvl="0" indent="0" algn="l">
              <a:spcBef>
                <a:spcPts val="0"/>
              </a:spcBef>
              <a:spcAft>
                <a:spcPts val="0"/>
              </a:spcAft>
              <a:buNone/>
            </a:pPr>
            <a:endParaRPr dirty="0"/>
          </a:p>
          <a:p>
            <a:pPr marL="0" lvl="0" indent="0" algn="l">
              <a:spcBef>
                <a:spcPts val="0"/>
              </a:spcBef>
              <a:spcAft>
                <a:spcPts val="0"/>
              </a:spcAft>
              <a:buNone/>
            </a:pPr>
            <a:r>
              <a:rPr dirty="0"/>
              <a:t>The Sensei pilot uses a small trained model to choose a teaching topic. The rules and recorded events provide its explanation. In this example, a route was interrupted. The hint connects that outcome to the order and asks what happened compared with the player’s expectation.</a:t>
            </a:r>
          </a:p>
          <a:p>
            <a:pPr marL="0" lvl="0" indent="0" algn="l">
              <a:spcBef>
                <a:spcPts val="0"/>
              </a:spcBef>
              <a:spcAft>
                <a:spcPts val="0"/>
              </a:spcAft>
              <a:buNone/>
            </a:pPr>
            <a:endParaRPr dirty="0"/>
          </a:p>
          <a:p>
            <a:pPr marL="0" lvl="0" indent="0" algn="l">
              <a:spcBef>
                <a:spcPts val="0"/>
              </a:spcBef>
              <a:spcAft>
                <a:spcPts val="0"/>
              </a:spcAft>
              <a:buNone/>
            </a:pPr>
            <a:r>
              <a:rPr dirty="0"/>
              <a:t>The training run gave us a working starting point. An instructor and I still need to evaluate whether the hints help people understand and transfer a lesson.</a:t>
            </a:r>
          </a:p>
          <a:p>
            <a:pPr marL="0" lvl="0" indent="0" algn="l">
              <a:spcBef>
                <a:spcPts val="0"/>
              </a:spcBef>
              <a:spcAft>
                <a:spcPts val="0"/>
              </a:spcAft>
              <a:buNone/>
            </a:pPr>
            <a:endParaRPr dirty="0"/>
          </a:p>
          <a:p>
            <a:pPr marL="0" lvl="0" indent="0" algn="l">
              <a:spcBef>
                <a:spcPts val="0"/>
              </a:spcBef>
              <a:spcAft>
                <a:spcPts val="0"/>
              </a:spcAft>
              <a:buNone/>
            </a:pPr>
            <a:r>
              <a:rPr dirty="0"/>
              <a:t>Sources: docs/ai-</a:t>
            </a:r>
            <a:r>
              <a:rPr dirty="0" err="1"/>
              <a:t>opponent.md</a:t>
            </a:r>
            <a:r>
              <a:rPr dirty="0"/>
              <a:t>; docs/training/guided-policy-v1.md; screenshot 29-sensei-explains-round-outcome.png. The hint selector used 15,638 synthetic training examples from 360 simulated games. The opponent is not a learned playing model. The presenter’s difficulty against it is owner-reported experience, not a benchmark.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3:50–4:45 (55 seconds)</a:t>
            </a:r>
          </a:p>
          <a:p>
            <a:pPr marL="0" lvl="0" indent="0" algn="l">
              <a:spcBef>
                <a:spcPts val="0"/>
              </a:spcBef>
              <a:spcAft>
                <a:spcPts val="0"/>
              </a:spcAft>
              <a:buNone/>
            </a:pPr>
            <a:endParaRPr dirty="0"/>
          </a:p>
          <a:p>
            <a:pPr marL="0" lvl="0" indent="0" algn="l">
              <a:spcBef>
                <a:spcPts val="0"/>
              </a:spcBef>
              <a:spcAft>
                <a:spcPts val="0"/>
              </a:spcAft>
              <a:buNone/>
            </a:pPr>
            <a:r>
              <a:rPr dirty="0"/>
              <a:t>The database is a core part of the learning experience. It preserves the order together with its context: who acted, when, what information was available, and how the rules resolved the action.</a:t>
            </a:r>
          </a:p>
          <a:p>
            <a:pPr marL="0" lvl="0" indent="0" algn="l">
              <a:spcBef>
                <a:spcPts val="0"/>
              </a:spcBef>
              <a:spcAft>
                <a:spcPts val="0"/>
              </a:spcAft>
              <a:buNone/>
            </a:pPr>
            <a:endParaRPr dirty="0"/>
          </a:p>
          <a:p>
            <a:pPr marL="0" lvl="0" indent="0" algn="l">
              <a:spcBef>
                <a:spcPts val="0"/>
              </a:spcBef>
              <a:spcAft>
                <a:spcPts val="0"/>
              </a:spcAft>
              <a:buNone/>
            </a:pPr>
            <a:r>
              <a:rPr dirty="0"/>
              <a:t>Here we have switched to the Senkaku coastal-transfer demonstration. The historical board and timeline let us revisit a particular move. On the right, the record shows that the move was accepted, cost two movement points, and left three. Those are authored game units.</a:t>
            </a:r>
          </a:p>
          <a:p>
            <a:pPr marL="0" lvl="0" indent="0" algn="l">
              <a:spcBef>
                <a:spcPts val="0"/>
              </a:spcBef>
              <a:spcAft>
                <a:spcPts val="0"/>
              </a:spcAft>
              <a:buNone/>
            </a:pPr>
            <a:endParaRPr dirty="0"/>
          </a:p>
          <a:p>
            <a:pPr marL="0" lvl="0" indent="0" algn="l">
              <a:spcBef>
                <a:spcPts val="0"/>
              </a:spcBef>
              <a:spcAft>
                <a:spcPts val="0"/>
              </a:spcAft>
              <a:buNone/>
            </a:pPr>
            <a:r>
              <a:rPr dirty="0"/>
              <a:t>The record preserves the earlier view and the resulting state. Resetting the board does not erase the previous exercise. That gives an instructor evidence for a discussion about the decision rather than relying on memory.</a:t>
            </a:r>
          </a:p>
          <a:p>
            <a:pPr marL="0" lvl="0" indent="0" algn="l">
              <a:spcBef>
                <a:spcPts val="0"/>
              </a:spcBef>
              <a:spcAft>
                <a:spcPts val="0"/>
              </a:spcAft>
              <a:buNone/>
            </a:pPr>
            <a:endParaRPr dirty="0"/>
          </a:p>
          <a:p>
            <a:pPr marL="0" lvl="0" indent="0" algn="l">
              <a:spcBef>
                <a:spcPts val="0"/>
              </a:spcBef>
              <a:spcAft>
                <a:spcPts val="0"/>
              </a:spcAft>
              <a:buNone/>
            </a:pPr>
            <a:r>
              <a:rPr dirty="0"/>
              <a:t>Sources: docs/exercise-</a:t>
            </a:r>
            <a:r>
              <a:rPr dirty="0" err="1"/>
              <a:t>database.md</a:t>
            </a:r>
            <a:r>
              <a:rPr dirty="0"/>
              <a:t>; output/playwright/presentation-demo/</a:t>
            </a:r>
            <a:r>
              <a:rPr dirty="0" err="1"/>
              <a:t>README.md</a:t>
            </a:r>
            <a:r>
              <a:rPr dirty="0"/>
              <a:t> and </a:t>
            </a:r>
            <a:r>
              <a:rPr dirty="0" err="1"/>
              <a:t>manifest.json</a:t>
            </a:r>
            <a:r>
              <a:rPr dirty="0"/>
              <a:t> (captures from 16 September 2026). Screenshots are browser captures, not physical-headset evidence. Screenshot: 35-map-replay-movement-and-cost.png. The example contains five accepted game actions. The movement record contains no submitted rationale; an absent explanation remains absent. Role-specific scenario views and full-information map exercises have different access rules.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4:45–5:40 (55 seconds)</a:t>
            </a:r>
          </a:p>
          <a:p>
            <a:pPr marL="0" lvl="0" indent="0" algn="l">
              <a:spcBef>
                <a:spcPts val="0"/>
              </a:spcBef>
              <a:spcAft>
                <a:spcPts val="0"/>
              </a:spcAft>
              <a:buNone/>
            </a:pPr>
            <a:endParaRPr dirty="0"/>
          </a:p>
          <a:p>
            <a:pPr marL="0" lvl="0" indent="0" algn="l">
              <a:spcBef>
                <a:spcPts val="0"/>
              </a:spcBef>
              <a:spcAft>
                <a:spcPts val="0"/>
              </a:spcAft>
              <a:buNone/>
            </a:pPr>
            <a:r>
              <a:rPr dirty="0"/>
              <a:t>Capture also supports review across an exercise. We can reconstruct the sequence, add a reflection or an assessment against a named rubric, and inspect reports on resources, interface friction and participation.</a:t>
            </a:r>
          </a:p>
          <a:p>
            <a:pPr marL="0" lvl="0" indent="0" algn="l">
              <a:spcBef>
                <a:spcPts val="0"/>
              </a:spcBef>
              <a:spcAft>
                <a:spcPts val="0"/>
              </a:spcAft>
              <a:buNone/>
            </a:pPr>
            <a:endParaRPr dirty="0"/>
          </a:p>
          <a:p>
            <a:pPr marL="0" lvl="0" indent="0" algn="l">
              <a:spcBef>
                <a:spcPts val="0"/>
              </a:spcBef>
              <a:spcAft>
                <a:spcPts val="0"/>
              </a:spcAft>
              <a:buNone/>
            </a:pPr>
            <a:r>
              <a:rPr dirty="0"/>
              <a:t>This report comes from the same coastal-transfer demonstration. It shows five submitted orders and no rejected orders, along with movement and cargo activity. The application can group comparable exercises and export their records for further analysis.</a:t>
            </a:r>
          </a:p>
          <a:p>
            <a:pPr marL="0" lvl="0" indent="0" algn="l">
              <a:spcBef>
                <a:spcPts val="0"/>
              </a:spcBef>
              <a:spcAft>
                <a:spcPts val="0"/>
              </a:spcAft>
              <a:buNone/>
            </a:pPr>
            <a:endParaRPr dirty="0"/>
          </a:p>
          <a:p>
            <a:pPr marL="0" lvl="0" indent="0" algn="l">
              <a:spcBef>
                <a:spcPts val="0"/>
              </a:spcBef>
              <a:spcAft>
                <a:spcPts val="0"/>
              </a:spcAft>
              <a:buNone/>
            </a:pPr>
            <a:r>
              <a:rPr dirty="0"/>
              <a:t>These are descriptions of what happened in the software. They do not tell us, by themselves, whether someone learned. The sample reflections and rubric entries in this demonstration are illustrative. An instructor still needs to assess the reasoning and whether the lesson transfers.</a:t>
            </a:r>
          </a:p>
          <a:p>
            <a:pPr marL="0" lvl="0" indent="0" algn="l">
              <a:spcBef>
                <a:spcPts val="0"/>
              </a:spcBef>
              <a:spcAft>
                <a:spcPts val="0"/>
              </a:spcAft>
              <a:buNone/>
            </a:pPr>
            <a:endParaRPr dirty="0"/>
          </a:p>
          <a:p>
            <a:pPr marL="0" lvl="0" indent="0" algn="l">
              <a:spcBef>
                <a:spcPts val="0"/>
              </a:spcBef>
              <a:spcAft>
                <a:spcPts val="0"/>
              </a:spcAft>
              <a:buNone/>
            </a:pPr>
            <a:r>
              <a:rPr dirty="0"/>
              <a:t>Sources: docs/exercise-</a:t>
            </a:r>
            <a:r>
              <a:rPr dirty="0" err="1"/>
              <a:t>database.md</a:t>
            </a:r>
            <a:r>
              <a:rPr dirty="0"/>
              <a:t>; output/playwright/presentation-demo/</a:t>
            </a:r>
            <a:r>
              <a:rPr dirty="0" err="1"/>
              <a:t>README.md</a:t>
            </a:r>
            <a:r>
              <a:rPr dirty="0"/>
              <a:t> and </a:t>
            </a:r>
            <a:r>
              <a:rPr dirty="0" err="1"/>
              <a:t>manifest.json</a:t>
            </a:r>
            <a:r>
              <a:rPr dirty="0"/>
              <a:t> (captures from 16 September 2026). Screenshots are browser captures, not physical-headset evidence. Screenshot: 39-friction-resources-participation-analytics.png. The report has one populated comparable exercise, not a measured class-wide trend. Missing telemetry may limit counts and pacing does not measure thinking time. Sample assessments are presenter-authored examples, not actual learner evaluations. Exports do not automatically authorize training reuse.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5:40–6:40 (60 seconds)</a:t>
            </a:r>
          </a:p>
          <a:p>
            <a:endParaRPr dirty="0"/>
          </a:p>
          <a:p>
            <a:r>
              <a:rPr dirty="0"/>
              <a:t>Next, I want to connect the experience across platforms and locations. An API could let other board gaming platforms participate in a shared exercise. Players using different headsets or a browser could meet around the same board, with avatars representing the people moving the pieces. This interoperability and remote presence remain future work.</a:t>
            </a:r>
          </a:p>
          <a:p>
            <a:endParaRPr dirty="0"/>
          </a:p>
          <a:p>
            <a:r>
              <a:rPr dirty="0"/>
              <a:t>The other direction is a better teacher. The decision record gives us a starting point for evaluating explanations and finding where learners need help. With instructor feedback, we can improve the Sensei and test whether people can apply a lesson in a changed scenario.</a:t>
            </a:r>
          </a:p>
          <a:p>
            <a:endParaRPr dirty="0"/>
          </a:p>
          <a:p>
            <a:r>
              <a:rPr dirty="0"/>
              <a:t>A small instructor-supported trial would help us evaluate collaboration, usability and learning before expanding the platform further.</a:t>
            </a:r>
          </a:p>
          <a:p>
            <a:endParaRPr dirty="0"/>
          </a:p>
          <a:p>
            <a:r>
              <a:rPr dirty="0"/>
              <a:t>Sources: owner future-development direction in this task; docs/design/agent-training-</a:t>
            </a:r>
            <a:r>
              <a:rPr dirty="0" err="1"/>
              <a:t>plan.md</a:t>
            </a:r>
            <a:r>
              <a:rPr dirty="0"/>
              <a:t>; docs/training/guided-policy-v1.md; docs/exercise-</a:t>
            </a:r>
            <a:r>
              <a:rPr dirty="0" err="1"/>
              <a:t>database.md</a:t>
            </a:r>
            <a:r>
              <a:rPr dirty="0"/>
              <a:t>. Public integrations, universal device compatibility, automated learning judgments and central cloud hosting are not claimed as implemented.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6:40–7:00 transition margin; 7:00–10:00 questions</a:t>
            </a:r>
          </a:p>
          <a:p>
            <a:endParaRPr dirty="0"/>
          </a:p>
          <a:p>
            <a:r>
              <a:rPr dirty="0"/>
              <a:t>Why capture decisions? To preserve the original information, order and result for reconstruction and instructor discussion.</a:t>
            </a:r>
          </a:p>
          <a:p>
            <a:r>
              <a:rPr dirty="0"/>
              <a:t>What is trained? The Sensei teaching-topic selector. The opponent uses authored planning and bounded search.</a:t>
            </a:r>
          </a:p>
          <a:p>
            <a:r>
              <a:rPr dirty="0"/>
              <a:t>Can any headset connect from anywhere? Broader headset compatibility, remote avatars and platform APIs are future work.</a:t>
            </a:r>
          </a:p>
          <a:p>
            <a:r>
              <a:rPr dirty="0"/>
              <a:t>Does the report score learning? No. Activity and outcomes are separate from instructor assessments and learning-transfer evaluation.</a:t>
            </a:r>
          </a:p>
          <a:p>
            <a:r>
              <a:rPr dirty="0"/>
              <a:t>Is this combat prediction? No. The scenarios use authored educational abstractions.</a:t>
            </a:r>
          </a:p>
          <a:p>
            <a:r>
              <a:rPr dirty="0"/>
              <a:t>What did the database check establish? The separate screenshot-collection verifier reported integrity ok and matching replay/checkpoint sources. It verified all six rounds of the completed demonstration scenario. This presentation revision did not repeat application or headset testing.</a:t>
            </a:r>
          </a:p>
          <a:p>
            <a:endParaRPr dirty="0"/>
          </a:p>
          <a:p>
            <a:r>
              <a:rPr dirty="0"/>
              <a:t>Sources: docs/ai-</a:t>
            </a:r>
            <a:r>
              <a:rPr dirty="0" err="1"/>
              <a:t>opponent.md</a:t>
            </a:r>
            <a:r>
              <a:rPr dirty="0"/>
              <a:t>; docs/training/guided-policy-v1.md; docs/exercise-</a:t>
            </a:r>
            <a:r>
              <a:rPr dirty="0" err="1"/>
              <a:t>database.md</a:t>
            </a:r>
            <a:r>
              <a:rPr dirty="0"/>
              <a:t>; output/playwright/presentation-demo/database-</a:t>
            </a:r>
            <a:r>
              <a:rPr dirty="0" err="1"/>
              <a:t>verification.json</a:t>
            </a:r>
            <a:r>
              <a:rPr dirty="0"/>
              <a:t>. Owner timing: seven-minute brief plus three-minute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buNone/>
              <a:defRPr sz="6000"/>
            </a:lvl1pPr>
          </a:lstStyle>
          <a:p>
            <a:r>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213811"/>
            <a:ext cx="2595934" cy="3780589"/>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idx="12"/>
          </p:nvPr>
        </p:nvSpPr>
        <p:spPr>
          <a:xfrm>
            <a:off x="3334966" y="2213811"/>
            <a:ext cx="2595934" cy="3780589"/>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2213811"/>
            <a:ext cx="2595934" cy="3780589"/>
          </a:xfrm>
          <a:prstGeom prst="rect">
            <a:avLst/>
          </a:prstGeom>
        </p:spPr>
        <p:txBody>
          <a:bodyPr vert="horz" lIns="0" tIns="0" rIns="0" bIns="0">
            <a:normAutofit/>
          </a:bodyPr>
          <a:lstStyle>
            <a:lvl1pPr>
              <a:buNone/>
              <a:defRPr sz="1600"/>
            </a:lvl1pPr>
            <a:lvl2pPr>
              <a:buNone/>
              <a:defRPr sz="1600"/>
            </a:lvl2pPr>
            <a:lvl3pPr>
              <a:buNone/>
              <a:defRPr sz="1600"/>
            </a:lvl3pPr>
            <a:lvl4pPr>
              <a:buNone/>
              <a:defRPr sz="1600"/>
            </a:lvl4pPr>
            <a:lvl5pPr>
              <a:buNone/>
              <a:defRPr sz="1600"/>
            </a:lvl5pPr>
          </a:lstStyle>
          <a:p>
            <a:pPr lvl="0">
              <a:buNone/>
            </a:pPr>
            <a:r>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idx="14"/>
          </p:nvPr>
        </p:nvSpPr>
        <p:spPr>
          <a:xfrm>
            <a:off x="9205679" y="2213811"/>
            <a:ext cx="2595934" cy="3780589"/>
          </a:xfrm>
        </p:spPr>
        <p:txBody>
          <a:bodyPr/>
          <a:lstStyle>
            <a:lvl1pPr>
              <a:buNone/>
              <a:defRPr sz="1800"/>
            </a:lvl1pPr>
            <a:lvl2pPr>
              <a:buNone/>
              <a:defRPr sz="1800"/>
            </a:lvl2pPr>
            <a:lvl3pPr>
              <a:buNone/>
              <a:defRPr sz="1800"/>
            </a:lvl3pPr>
            <a:lvl4pPr>
              <a:buNone/>
              <a:defRPr sz="1800"/>
            </a:lvl4pPr>
            <a:lvl5pPr>
              <a:buNone/>
              <a:defRPr sz="1800"/>
            </a:lvl5pPr>
          </a:lstStyle>
          <a:p>
            <a:pPr lvl="0">
              <a:buNone/>
            </a:pPr>
            <a:r>
              <a:t>Click to edit Master</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anchor="t">
            <a:normAutofit/>
          </a:bodyPr>
          <a:lstStyle/>
          <a:p>
            <a:r>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idx="3"/>
          </p:nvPr>
        </p:nvSpPr>
        <p:spPr>
          <a:xfrm>
            <a:off x="393700" y="6279952"/>
            <a:ext cx="3568700" cy="241240"/>
          </a:xfrm>
          <a:prstGeom prst="rect">
            <a:avLst/>
          </a:prstGeom>
        </p:spPr>
        <p:txBody>
          <a:bodyPr vert="horz" lIns="0" tIns="0" rIns="0" bIns="0" anchor="b"/>
          <a:lstStyle>
            <a:lvl1pPr algn="l">
              <a:buNone/>
              <a:defRPr sz="1000">
                <a:solidFill>
                  <a:schemeClr val="tx1"/>
                </a:solidFill>
              </a:defRPr>
            </a:lvl1pPr>
          </a:lstStyle>
          <a:p>
            <a:endParaRPr sz="100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idx="4"/>
          </p:nvPr>
        </p:nvSpPr>
        <p:spPr>
          <a:xfrm>
            <a:off x="11279332" y="6279294"/>
            <a:ext cx="518968" cy="241240"/>
          </a:xfrm>
          <a:prstGeom prst="rect">
            <a:avLst/>
          </a:prstGeom>
        </p:spPr>
        <p:txBody>
          <a:bodyPr vert="horz" lIns="0" tIns="0" rIns="0" bIns="0" anchor="b"/>
          <a:lstStyle>
            <a:lvl1pPr algn="r">
              <a:buNone/>
              <a:defRPr sz="1000" kern="1200">
                <a:solidFill>
                  <a:schemeClr val="tx1"/>
                </a:solidFill>
                <a:latin typeface="+mn-lt"/>
                <a:ea typeface="+mn-lt"/>
                <a:cs typeface="+mn-lt"/>
              </a:defRPr>
            </a:lvl1pPr>
          </a:lstStyle>
          <a:p>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dt="0"/>
  <p:txStyles>
    <p:titleStyle>
      <a:lvl1pPr algn="l" defTabSz="914400">
        <a:lnSpc>
          <a:spcPct val="90000"/>
        </a:lnSpc>
        <a:spcBef>
          <a:spcPct val="0"/>
        </a:spcBef>
        <a:buNone/>
        <a:defRPr sz="29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496"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CD47D-0812-5F5E-8AA0-B4316F994F47}"/>
              </a:ext>
            </a:extLst>
          </p:cNvPr>
          <p:cNvSpPr>
            <a:spLocks noGrp="1"/>
          </p:cNvSpPr>
          <p:nvPr>
            <p:ph type="ctrTitle"/>
          </p:nvPr>
        </p:nvSpPr>
        <p:spPr>
          <a:xfrm>
            <a:off x="393700" y="1738755"/>
            <a:ext cx="9448800" cy="2491490"/>
          </a:xfrm>
        </p:spPr>
        <p:txBody>
          <a:bodyPr>
            <a:noAutofit/>
          </a:bodyPr>
          <a:lstStyle/>
          <a:p>
            <a:r>
              <a:rPr sz="8800" dirty="0" err="1"/>
              <a:t>X</a:t>
            </a:r>
            <a:r>
              <a:rPr lang="en-US" sz="8800" dirty="0" err="1"/>
              <a:t>r</a:t>
            </a:r>
            <a:r>
              <a:rPr sz="8800" dirty="0" err="1"/>
              <a:t>iegsspiel</a:t>
            </a:r>
            <a:endParaRPr sz="7200" dirty="0"/>
          </a:p>
        </p:txBody>
      </p:sp>
      <p:sp>
        <p:nvSpPr>
          <p:cNvPr id="5" name="Subtitle 4">
            <a:extLst>
              <a:ext uri="{FF2B5EF4-FFF2-40B4-BE49-F238E27FC236}">
                <a16:creationId xmlns:a16="http://schemas.microsoft.com/office/drawing/2014/main" id="{283B85AD-626B-46B7-0C36-31F5BABDE10D}"/>
              </a:ext>
            </a:extLst>
          </p:cNvPr>
          <p:cNvSpPr>
            <a:spLocks noGrp="1"/>
          </p:cNvSpPr>
          <p:nvPr>
            <p:ph type="subTitle" idx="1"/>
          </p:nvPr>
        </p:nvSpPr>
        <p:spPr>
          <a:xfrm>
            <a:off x="393700" y="4742208"/>
            <a:ext cx="6375090" cy="1080246"/>
          </a:xfrm>
        </p:spPr>
        <p:txBody>
          <a:bodyPr>
            <a:noAutofit/>
          </a:bodyPr>
          <a:lstStyle/>
          <a:p>
            <a:pPr marL="0" indent="0">
              <a:spcAft>
                <a:spcPts val="0"/>
              </a:spcAft>
              <a:buNone/>
            </a:pPr>
            <a:r>
              <a:rPr sz="1800" dirty="0">
                <a:solidFill>
                  <a:srgbClr val="000000"/>
                </a:solidFill>
                <a:latin typeface="Helvetica Neue"/>
                <a:ea typeface="Helvetica Neue"/>
                <a:cs typeface="Helvetica Neue"/>
              </a:rPr>
              <a:t>Collaborative wargaming across headsets and browsers</a:t>
            </a:r>
          </a:p>
        </p:txBody>
      </p:sp>
      <p:sp>
        <p:nvSpPr>
          <p:cNvPr id="6" name="Subtitle 4">
            <a:extLst>
              <a:ext uri="{FF2B5EF4-FFF2-40B4-BE49-F238E27FC236}">
                <a16:creationId xmlns:a16="http://schemas.microsoft.com/office/drawing/2014/main" id="{543BAB87-2ABE-9D84-8400-3B5ABA08B3C2}"/>
              </a:ext>
            </a:extLst>
          </p:cNvPr>
          <p:cNvSpPr>
            <a:spLocks noGrp="1"/>
          </p:cNvSpPr>
          <p:nvPr/>
        </p:nvSpPr>
        <p:spPr>
          <a:xfrm>
            <a:off x="393700" y="392241"/>
            <a:ext cx="5702300" cy="649159"/>
          </a:xfrm>
          <a:prstGeom prst="rect">
            <a:avLst/>
          </a:prstGeom>
        </p:spPr>
        <p:txBody>
          <a:bodyPr vert="horz" lIns="0" tIns="0" rIns="0" bIns="0">
            <a:noAutofit/>
          </a:bodyPr>
          <a:lstStyle>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r>
              <a:rPr sz="1800"/>
              <a:t>MCU–NPS AI Learning Initiatives Hackathon</a:t>
            </a:r>
          </a:p>
        </p:txBody>
      </p:sp>
    </p:spTree>
    <p:extLst>
      <p:ext uri="{BB962C8B-B14F-4D97-AF65-F5344CB8AC3E}">
        <p14:creationId xmlns:p14="http://schemas.microsoft.com/office/powerpoint/2010/main" val="3258783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1BCBE750-7048-686D-1472-52C53362D6CD}"/>
              </a:ext>
            </a:extLst>
          </p:cNvPr>
          <p:cNvSpPr>
            <a:spLocks noGrp="1"/>
          </p:cNvSpPr>
          <p:nvPr>
            <p:ph type="sldNum" idx="4"/>
          </p:nvPr>
        </p:nvSpPr>
        <p:spPr>
          <a:xfrm>
            <a:off x="11279332" y="6279294"/>
            <a:ext cx="518968" cy="241240"/>
          </a:xfrm>
        </p:spPr>
        <p:txBody>
          <a:bodyPr spcFirstLastPara="1" vert="horz" wrap="square" lIns="0" tIns="0" rIns="0" bIns="0" anchor="b">
            <a:noAutofit/>
          </a:bodyPr>
          <a:lstStyle/>
          <a:p>
            <a:fld id="{E2598689-54C9-18A7-3A19-ED76AA08988F}" type="slidenum">
              <a:rPr/>
              <a:t>2</a:t>
            </a:fld>
            <a:endParaRPr/>
          </a:p>
        </p:txBody>
      </p:sp>
      <p:sp>
        <p:nvSpPr>
          <p:cNvPr id="533" name="Google Shape;533;p58">
            <a:extLst>
              <a:ext uri="{FF2B5EF4-FFF2-40B4-BE49-F238E27FC236}">
                <a16:creationId xmlns:a16="http://schemas.microsoft.com/office/drawing/2014/main" id="{1B5D55CD-1C17-7CD8-F26A-2DD65B067687}"/>
              </a:ext>
            </a:extLst>
          </p:cNvPr>
          <p:cNvSpPr>
            <a:spLocks noGrp="1"/>
          </p:cNvSpPr>
          <p:nvPr>
            <p:ph type="title"/>
          </p:nvPr>
        </p:nvSpPr>
        <p:spPr>
          <a:xfrm>
            <a:off x="393700" y="344008"/>
            <a:ext cx="11404600" cy="1047491"/>
          </a:xfrm>
        </p:spPr>
        <p:txBody>
          <a:bodyPr spcFirstLastPara="1" vert="horz" wrap="square" lIns="0" tIns="0" rIns="0" bIns="0" anchor="t">
            <a:noAutofit/>
          </a:bodyPr>
          <a:lstStyle/>
          <a:p>
            <a:r>
              <a:t>The learning problem</a:t>
            </a:r>
          </a:p>
        </p:txBody>
      </p:sp>
      <p:sp>
        <p:nvSpPr>
          <p:cNvPr id="7" name="Google Shape;534;p58">
            <a:extLst>
              <a:ext uri="{FF2B5EF4-FFF2-40B4-BE49-F238E27FC236}">
                <a16:creationId xmlns:a16="http://schemas.microsoft.com/office/drawing/2014/main" id="{3A923FEE-B8D2-CD3A-ABBD-21770B40AA24}"/>
              </a:ext>
            </a:extLst>
          </p:cNvPr>
          <p:cNvSpPr>
            <a:spLocks noGrp="1"/>
          </p:cNvSpPr>
          <p:nvPr/>
        </p:nvSpPr>
        <p:spPr>
          <a:xfrm>
            <a:off x="393700" y="2031999"/>
            <a:ext cx="5537200" cy="3534787"/>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600"/>
              </a:spcAft>
              <a:buNone/>
            </a:pPr>
            <a:r>
              <a:rPr sz="2400" dirty="0">
                <a:solidFill>
                  <a:srgbClr val="000000"/>
                </a:solidFill>
                <a:latin typeface="Helvetica Neue"/>
                <a:ea typeface="Helvetica Neue"/>
                <a:cs typeface="Helvetica Neue"/>
              </a:rPr>
              <a:t>Attention spent on mechanics</a:t>
            </a:r>
          </a:p>
          <a:p>
            <a:r>
              <a:rPr sz="1600" dirty="0">
                <a:solidFill>
                  <a:srgbClr val="000000"/>
                </a:solidFill>
                <a:latin typeface="Helvetica Neue"/>
                <a:ea typeface="Helvetica Neue"/>
                <a:cs typeface="Helvetica Neue"/>
              </a:rPr>
              <a:t>Rule lookups and bookkeeping interrupt the planning conversation. Instructors need a clear record of what learners knew, chose and observed.</a:t>
            </a:r>
          </a:p>
        </p:txBody>
      </p:sp>
      <p:sp>
        <p:nvSpPr>
          <p:cNvPr id="8" name="Content Placeholder 3">
            <a:extLst>
              <a:ext uri="{FF2B5EF4-FFF2-40B4-BE49-F238E27FC236}">
                <a16:creationId xmlns:a16="http://schemas.microsoft.com/office/drawing/2014/main" id="{2EE8F343-A95F-2AAA-FE9E-A6C31E298DF7}"/>
              </a:ext>
            </a:extLst>
          </p:cNvPr>
          <p:cNvSpPr>
            <a:spLocks noGrp="1"/>
          </p:cNvSpPr>
          <p:nvPr/>
        </p:nvSpPr>
        <p:spPr>
          <a:xfrm>
            <a:off x="6256618" y="2031999"/>
            <a:ext cx="5537200" cy="3534787"/>
          </a:xfrm>
          <a:prstGeom prst="rect">
            <a:avLst/>
          </a:prstGeom>
        </p:spPr>
        <p:txBody>
          <a:bodyPr spcFirstLastPara="1" lIns="0" tIns="0" rIns="0" bIns="0">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1600"/>
              </a:spcAft>
              <a:buNone/>
            </a:pPr>
            <a:r>
              <a:rPr sz="2400" dirty="0">
                <a:solidFill>
                  <a:srgbClr val="000000"/>
                </a:solidFill>
                <a:latin typeface="Helvetica Neue"/>
                <a:ea typeface="Helvetica Neue"/>
                <a:cs typeface="Helvetica Neue"/>
              </a:rPr>
              <a:t>Collaboration across interfaces</a:t>
            </a:r>
          </a:p>
          <a:p>
            <a:r>
              <a:rPr sz="1600" dirty="0">
                <a:solidFill>
                  <a:srgbClr val="000000"/>
                </a:solidFill>
                <a:latin typeface="Helvetica Neue"/>
                <a:ea typeface="Helvetica Neue"/>
                <a:cs typeface="Helvetica Neue"/>
              </a:rPr>
              <a:t>Online wargames already exist. </a:t>
            </a:r>
            <a:r>
              <a:rPr sz="1600" dirty="0" err="1">
                <a:solidFill>
                  <a:srgbClr val="000000"/>
                </a:solidFill>
                <a:latin typeface="Helvetica Neue"/>
                <a:ea typeface="Helvetica Neue"/>
                <a:cs typeface="Helvetica Neue"/>
              </a:rPr>
              <a:t>XRiegsspiel’s</a:t>
            </a:r>
            <a:r>
              <a:rPr sz="1600" dirty="0">
                <a:solidFill>
                  <a:srgbClr val="000000"/>
                </a:solidFill>
                <a:latin typeface="Helvetica Neue"/>
                <a:ea typeface="Helvetica Neue"/>
                <a:cs typeface="Helvetica Neue"/>
              </a:rPr>
              <a:t> goal is a shared tabletop where learners can join through a headset or browser and reason together.</a:t>
            </a:r>
          </a:p>
        </p:txBody>
      </p:sp>
    </p:spTree>
    <p:extLst>
      <p:ext uri="{BB962C8B-B14F-4D97-AF65-F5344CB8AC3E}">
        <p14:creationId xmlns:p14="http://schemas.microsoft.com/office/powerpoint/2010/main" val="3667182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D4C92004-F6FC-8FE6-BAD5-82F7D96E79D7}"/>
              </a:ext>
            </a:extLst>
          </p:cNvPr>
          <p:cNvSpPr>
            <a:spLocks noGrp="1"/>
          </p:cNvSpPr>
          <p:nvPr>
            <p:ph type="sldNum" idx="4"/>
          </p:nvPr>
        </p:nvSpPr>
        <p:spPr/>
        <p:txBody>
          <a:bodyPr spcFirstLastPara="1" vert="horz" wrap="square" lIns="0" tIns="0" rIns="0" bIns="0" anchor="b">
            <a:noAutofit/>
          </a:bodyPr>
          <a:lstStyle/>
          <a:p>
            <a:fld id="{202359C0-8A7A-196E-DD58-8E6569619F09}" type="slidenum">
              <a:rPr/>
              <a:t>3</a:t>
            </a:fld>
            <a:endParaRPr/>
          </a:p>
        </p:txBody>
      </p:sp>
      <p:sp>
        <p:nvSpPr>
          <p:cNvPr id="533" name="Google Shape;533;p58">
            <a:extLst>
              <a:ext uri="{FF2B5EF4-FFF2-40B4-BE49-F238E27FC236}">
                <a16:creationId xmlns:a16="http://schemas.microsoft.com/office/drawing/2014/main" id="{3A80AAE9-99DA-415B-48E5-DF2948540391}"/>
              </a:ext>
            </a:extLst>
          </p:cNvPr>
          <p:cNvSpPr>
            <a:spLocks noGrp="1"/>
          </p:cNvSpPr>
          <p:nvPr>
            <p:ph type="title"/>
          </p:nvPr>
        </p:nvSpPr>
        <p:spPr/>
        <p:txBody>
          <a:bodyPr spcFirstLastPara="1" vert="horz" wrap="square" lIns="0" tIns="0" rIns="0" bIns="0" anchor="t">
            <a:noAutofit/>
          </a:bodyPr>
          <a:lstStyle/>
          <a:p>
            <a:r>
              <a:t>Inside XRiegsspiel</a:t>
            </a:r>
          </a:p>
        </p:txBody>
      </p:sp>
      <p:sp>
        <p:nvSpPr>
          <p:cNvPr id="8" name="Google Shape;534;p58">
            <a:extLst>
              <a:ext uri="{FF2B5EF4-FFF2-40B4-BE49-F238E27FC236}">
                <a16:creationId xmlns:a16="http://schemas.microsoft.com/office/drawing/2014/main" id="{33514EAC-B165-B2D5-733A-EDDA1BA94C46}"/>
              </a:ext>
            </a:extLst>
          </p:cNvPr>
          <p:cNvSpPr>
            <a:spLocks noGrp="1"/>
          </p:cNvSpPr>
          <p:nvPr/>
        </p:nvSpPr>
        <p:spPr>
          <a:xfrm>
            <a:off x="393668" y="1666875"/>
            <a:ext cx="3276600" cy="4327493"/>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08000"/>
              </a:lnSpc>
              <a:spcBef>
                <a:spcPts val="0"/>
              </a:spcBef>
              <a:spcAft>
                <a:spcPts val="1800"/>
              </a:spcAft>
              <a:buNone/>
            </a:pPr>
            <a:r>
              <a:rPr sz="2000" b="1" dirty="0">
                <a:solidFill>
                  <a:srgbClr val="000000"/>
                </a:solidFill>
                <a:latin typeface="Helvetica Neue"/>
                <a:ea typeface="Helvetica Neue"/>
                <a:cs typeface="Helvetica Neue"/>
              </a:rPr>
              <a:t>Quest 3 and browser play</a:t>
            </a:r>
          </a:p>
          <a:p>
            <a:pPr>
              <a:lnSpc>
                <a:spcPct val="108000"/>
              </a:lnSpc>
              <a:spcBef>
                <a:spcPts val="0"/>
              </a:spcBef>
              <a:spcAft>
                <a:spcPts val="1700"/>
              </a:spcAft>
            </a:pPr>
            <a:r>
              <a:rPr sz="1800" dirty="0">
                <a:solidFill>
                  <a:srgbClr val="000000"/>
                </a:solidFill>
                <a:latin typeface="Helvetica Neue"/>
                <a:ea typeface="Helvetica Neue"/>
                <a:cs typeface="Helvetica Neue"/>
              </a:rPr>
              <a:t>Move 3D miniatures and preview routes before committing.</a:t>
            </a:r>
          </a:p>
          <a:p>
            <a:pPr>
              <a:lnSpc>
                <a:spcPct val="108000"/>
              </a:lnSpc>
              <a:spcBef>
                <a:spcPts val="0"/>
              </a:spcBef>
              <a:spcAft>
                <a:spcPts val="1700"/>
              </a:spcAft>
            </a:pPr>
            <a:r>
              <a:rPr sz="1800" dirty="0">
                <a:solidFill>
                  <a:srgbClr val="000000"/>
                </a:solidFill>
                <a:latin typeface="Helvetica Neue"/>
                <a:ea typeface="Helvetica Neue"/>
                <a:cs typeface="Helvetica Neue"/>
              </a:rPr>
              <a:t>Eight scenarios, three opponent difficulties, and human referee controls.</a:t>
            </a:r>
          </a:p>
          <a:p>
            <a:pPr>
              <a:lnSpc>
                <a:spcPct val="108000"/>
              </a:lnSpc>
              <a:spcBef>
                <a:spcPts val="0"/>
              </a:spcBef>
            </a:pPr>
            <a:r>
              <a:rPr sz="1800" dirty="0">
                <a:solidFill>
                  <a:srgbClr val="000000"/>
                </a:solidFill>
                <a:latin typeface="Helvetica Neue"/>
                <a:ea typeface="Helvetica Neue"/>
                <a:cs typeface="Helvetica Neue"/>
              </a:rPr>
              <a:t>Automatic resolution and bookkeeping keep play moving.</a:t>
            </a:r>
          </a:p>
        </p:txBody>
      </p:sp>
      <p:pic>
        <p:nvPicPr>
          <p:cNvPr id="540" name="Picture 539"/>
          <p:cNvPicPr>
            <a:picLocks noChangeAspect="1"/>
          </p:cNvPicPr>
          <p:nvPr/>
        </p:nvPicPr>
        <p:blipFill>
          <a:blip r:embed="rId3"/>
          <a:stretch/>
        </p:blipFill>
        <p:spPr>
          <a:xfrm>
            <a:off x="4089368" y="1485909"/>
            <a:ext cx="7708868" cy="4336238"/>
          </a:xfrm>
          <a:prstGeom prst="roundRect">
            <a:avLst>
              <a:gd name="adj" fmla="val 1757"/>
            </a:avLst>
          </a:prstGeom>
        </p:spPr>
      </p:pic>
      <p:sp>
        <p:nvSpPr>
          <p:cNvPr id="535" name="Screenshot caption">
            <a:extLst>
              <a:ext uri="{FF2B5EF4-FFF2-40B4-BE49-F238E27FC236}">
                <a16:creationId xmlns:a16="http://schemas.microsoft.com/office/drawing/2014/main" id="{D7976150-1286-4EEF-B631-137860D4B8AB}"/>
              </a:ext>
            </a:extLst>
          </p:cNvPr>
          <p:cNvSpPr>
            <a:spLocks noGrp="1"/>
          </p:cNvSpPr>
          <p:nvPr/>
        </p:nvSpPr>
        <p:spPr>
          <a:xfrm>
            <a:off x="4089368" y="5838825"/>
            <a:ext cx="7708868" cy="333375"/>
          </a:xfrm>
          <a:prstGeom prst="rect">
            <a:avLst/>
          </a:prstGeom>
          <a:noFill/>
          <a:ln w="0">
            <a:noFill/>
          </a:ln>
        </p:spPr>
        <p:txBody>
          <a:bodyPr lIns="0" tIns="0" rIns="0" bIns="0" anchor="t">
            <a:noAutofit/>
          </a:bodyPr>
          <a:lstStyle/>
          <a:p>
            <a:pPr marL="0" indent="0">
              <a:lnSpc>
                <a:spcPct val="108000"/>
              </a:lnSpc>
              <a:spcBef>
                <a:spcPts val="0"/>
              </a:spcBef>
              <a:spcAft>
                <a:spcPts val="0"/>
              </a:spcAft>
              <a:buNone/>
            </a:pPr>
            <a:r>
              <a:rPr sz="1350">
                <a:solidFill>
                  <a:srgbClr val="000000"/>
                </a:solidFill>
                <a:latin typeface="Helvetica Neue"/>
                <a:ea typeface="Helvetica Neue"/>
                <a:cs typeface="Helvetica Neue"/>
              </a:rPr>
              <a:t>Route preview: 4 movement points, nearby patrol, interception possible</a:t>
            </a:r>
          </a:p>
        </p:txBody>
      </p:sp>
    </p:spTree>
    <p:extLst>
      <p:ext uri="{BB962C8B-B14F-4D97-AF65-F5344CB8AC3E}">
        <p14:creationId xmlns:p14="http://schemas.microsoft.com/office/powerpoint/2010/main" val="3245670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D4C92004-F6FC-8FE6-BAD5-82F7D96E79D7}"/>
              </a:ext>
            </a:extLst>
          </p:cNvPr>
          <p:cNvSpPr>
            <a:spLocks noGrp="1"/>
          </p:cNvSpPr>
          <p:nvPr>
            <p:ph type="sldNum" idx="4"/>
          </p:nvPr>
        </p:nvSpPr>
        <p:spPr/>
        <p:txBody>
          <a:bodyPr spcFirstLastPara="1" vert="horz" wrap="square" lIns="0" tIns="0" rIns="0" bIns="0" anchor="b">
            <a:noAutofit/>
          </a:bodyPr>
          <a:lstStyle/>
          <a:p>
            <a:fld id="{EFD6AB9A-5F9E-5F59-51AB-3C8734130965}" type="slidenum">
              <a:rPr/>
              <a:t>4</a:t>
            </a:fld>
            <a:endParaRPr/>
          </a:p>
        </p:txBody>
      </p:sp>
      <p:sp>
        <p:nvSpPr>
          <p:cNvPr id="533" name="Google Shape;533;p58">
            <a:extLst>
              <a:ext uri="{FF2B5EF4-FFF2-40B4-BE49-F238E27FC236}">
                <a16:creationId xmlns:a16="http://schemas.microsoft.com/office/drawing/2014/main" id="{3A80AAE9-99DA-415B-48E5-DF2948540391}"/>
              </a:ext>
            </a:extLst>
          </p:cNvPr>
          <p:cNvSpPr>
            <a:spLocks noGrp="1"/>
          </p:cNvSpPr>
          <p:nvPr>
            <p:ph type="title"/>
          </p:nvPr>
        </p:nvSpPr>
        <p:spPr/>
        <p:txBody>
          <a:bodyPr spcFirstLastPara="1" vert="horz" wrap="square" lIns="0" tIns="0" rIns="0" bIns="0" anchor="t">
            <a:noAutofit/>
          </a:bodyPr>
          <a:lstStyle/>
          <a:p>
            <a:r>
              <a:rPr dirty="0"/>
              <a:t>AI opponent and </a:t>
            </a:r>
            <a:r>
              <a:rPr lang="en-US" dirty="0"/>
              <a:t>guide</a:t>
            </a:r>
            <a:endParaRPr dirty="0"/>
          </a:p>
        </p:txBody>
      </p:sp>
      <p:sp>
        <p:nvSpPr>
          <p:cNvPr id="8" name="Google Shape;534;p58">
            <a:extLst>
              <a:ext uri="{FF2B5EF4-FFF2-40B4-BE49-F238E27FC236}">
                <a16:creationId xmlns:a16="http://schemas.microsoft.com/office/drawing/2014/main" id="{33514EAC-B165-B2D5-733A-EDDA1BA94C46}"/>
              </a:ext>
            </a:extLst>
          </p:cNvPr>
          <p:cNvSpPr>
            <a:spLocks noGrp="1"/>
          </p:cNvSpPr>
          <p:nvPr/>
        </p:nvSpPr>
        <p:spPr>
          <a:xfrm>
            <a:off x="393668" y="1666875"/>
            <a:ext cx="3276600" cy="4327493"/>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nSpc>
                <a:spcPct val="108000"/>
              </a:lnSpc>
              <a:spcBef>
                <a:spcPts val="0"/>
              </a:spcBef>
              <a:spcAft>
                <a:spcPts val="750"/>
              </a:spcAft>
              <a:buNone/>
            </a:pPr>
            <a:r>
              <a:rPr sz="1950" b="1" dirty="0">
                <a:solidFill>
                  <a:srgbClr val="000000"/>
                </a:solidFill>
                <a:latin typeface="Helvetica Neue"/>
                <a:ea typeface="Helvetica Neue"/>
                <a:cs typeface="Helvetica Neue"/>
              </a:rPr>
              <a:t>The opponent</a:t>
            </a:r>
          </a:p>
          <a:p>
            <a:pPr>
              <a:lnSpc>
                <a:spcPct val="108000"/>
              </a:lnSpc>
              <a:spcBef>
                <a:spcPts val="0"/>
              </a:spcBef>
              <a:spcAft>
                <a:spcPts val="1700"/>
              </a:spcAft>
            </a:pPr>
            <a:r>
              <a:rPr sz="1800" dirty="0">
                <a:solidFill>
                  <a:srgbClr val="000000"/>
                </a:solidFill>
                <a:latin typeface="Helvetica Neue"/>
                <a:ea typeface="Helvetica Neue"/>
                <a:cs typeface="Helvetica Neue"/>
              </a:rPr>
              <a:t>Authored planning and search provide the opposition.</a:t>
            </a:r>
          </a:p>
          <a:p>
            <a:pPr marL="0" indent="0">
              <a:lnSpc>
                <a:spcPct val="108000"/>
              </a:lnSpc>
              <a:spcBef>
                <a:spcPts val="0"/>
              </a:spcBef>
              <a:spcAft>
                <a:spcPts val="750"/>
              </a:spcAft>
              <a:buNone/>
            </a:pPr>
            <a:r>
              <a:rPr sz="1950" b="1" dirty="0">
                <a:solidFill>
                  <a:srgbClr val="000000"/>
                </a:solidFill>
                <a:latin typeface="Helvetica Neue"/>
                <a:ea typeface="Helvetica Neue"/>
                <a:cs typeface="Helvetica Neue"/>
              </a:rPr>
              <a:t>The </a:t>
            </a:r>
            <a:r>
              <a:rPr lang="en-US" sz="1950" b="1" dirty="0">
                <a:solidFill>
                  <a:srgbClr val="000000"/>
                </a:solidFill>
                <a:latin typeface="Helvetica Neue"/>
                <a:ea typeface="Helvetica Neue"/>
                <a:cs typeface="Helvetica Neue"/>
              </a:rPr>
              <a:t>guide</a:t>
            </a:r>
            <a:endParaRPr sz="1950" b="1" dirty="0">
              <a:solidFill>
                <a:srgbClr val="000000"/>
              </a:solidFill>
              <a:latin typeface="Helvetica Neue"/>
              <a:ea typeface="Helvetica Neue"/>
              <a:cs typeface="Helvetica Neue"/>
            </a:endParaRPr>
          </a:p>
          <a:p>
            <a:pPr>
              <a:lnSpc>
                <a:spcPct val="108000"/>
              </a:lnSpc>
              <a:spcBef>
                <a:spcPts val="0"/>
              </a:spcBef>
              <a:spcAft>
                <a:spcPts val="1700"/>
              </a:spcAft>
            </a:pPr>
            <a:r>
              <a:rPr sz="1800" dirty="0">
                <a:solidFill>
                  <a:srgbClr val="000000"/>
                </a:solidFill>
                <a:latin typeface="Helvetica Neue"/>
                <a:ea typeface="Helvetica Neue"/>
                <a:cs typeface="Helvetica Neue"/>
              </a:rPr>
              <a:t>A trained model selects a teaching topic. Rules and recorded events explain it.</a:t>
            </a:r>
          </a:p>
          <a:p>
            <a:pPr>
              <a:lnSpc>
                <a:spcPct val="108000"/>
              </a:lnSpc>
              <a:spcBef>
                <a:spcPts val="0"/>
              </a:spcBef>
            </a:pPr>
            <a:r>
              <a:rPr sz="1800" dirty="0">
                <a:solidFill>
                  <a:srgbClr val="000000"/>
                </a:solidFill>
                <a:latin typeface="Helvetica Neue"/>
                <a:ea typeface="Helvetica Neue"/>
                <a:cs typeface="Helvetica Neue"/>
              </a:rPr>
              <a:t>“What happened compared with what you expected?”</a:t>
            </a:r>
          </a:p>
        </p:txBody>
      </p:sp>
      <p:pic>
        <p:nvPicPr>
          <p:cNvPr id="540" name="Picture 539"/>
          <p:cNvPicPr>
            <a:picLocks noChangeAspect="1"/>
          </p:cNvPicPr>
          <p:nvPr/>
        </p:nvPicPr>
        <p:blipFill>
          <a:blip r:embed="rId3"/>
          <a:stretch/>
        </p:blipFill>
        <p:spPr>
          <a:xfrm>
            <a:off x="4089368" y="1485909"/>
            <a:ext cx="7708868" cy="4336238"/>
          </a:xfrm>
          <a:prstGeom prst="roundRect">
            <a:avLst>
              <a:gd name="adj" fmla="val 1757"/>
            </a:avLst>
          </a:prstGeom>
        </p:spPr>
      </p:pic>
      <p:sp>
        <p:nvSpPr>
          <p:cNvPr id="535" name="Screenshot caption">
            <a:extLst>
              <a:ext uri="{FF2B5EF4-FFF2-40B4-BE49-F238E27FC236}">
                <a16:creationId xmlns:a16="http://schemas.microsoft.com/office/drawing/2014/main" id="{60959CC9-8803-406D-A085-E8DB3AEE0DBD}"/>
              </a:ext>
            </a:extLst>
          </p:cNvPr>
          <p:cNvSpPr>
            <a:spLocks noGrp="1"/>
          </p:cNvSpPr>
          <p:nvPr/>
        </p:nvSpPr>
        <p:spPr>
          <a:xfrm>
            <a:off x="4089368" y="5838825"/>
            <a:ext cx="7708868" cy="333375"/>
          </a:xfrm>
          <a:prstGeom prst="rect">
            <a:avLst/>
          </a:prstGeom>
          <a:noFill/>
          <a:ln w="0">
            <a:noFill/>
          </a:ln>
        </p:spPr>
        <p:txBody>
          <a:bodyPr lIns="0" tIns="0" rIns="0" bIns="0" anchor="t">
            <a:noAutofit/>
          </a:bodyPr>
          <a:lstStyle/>
          <a:p>
            <a:pPr marL="0" indent="0">
              <a:lnSpc>
                <a:spcPct val="108000"/>
              </a:lnSpc>
              <a:spcBef>
                <a:spcPts val="0"/>
              </a:spcBef>
              <a:spcAft>
                <a:spcPts val="0"/>
              </a:spcAft>
              <a:buNone/>
            </a:pPr>
            <a:r>
              <a:rPr sz="1350">
                <a:solidFill>
                  <a:srgbClr val="000000"/>
                </a:solidFill>
                <a:latin typeface="Helvetica Neue"/>
                <a:ea typeface="Helvetica Neue"/>
                <a:cs typeface="Helvetica Neue"/>
              </a:rPr>
              <a:t>Sensei connects the order to its recorded outcome</a:t>
            </a:r>
          </a:p>
        </p:txBody>
      </p:sp>
    </p:spTree>
    <p:extLst>
      <p:ext uri="{BB962C8B-B14F-4D97-AF65-F5344CB8AC3E}">
        <p14:creationId xmlns:p14="http://schemas.microsoft.com/office/powerpoint/2010/main" val="3245670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D4C92004-F6FC-8FE6-BAD5-82F7D96E79D7}"/>
              </a:ext>
            </a:extLst>
          </p:cNvPr>
          <p:cNvSpPr>
            <a:spLocks noGrp="1"/>
          </p:cNvSpPr>
          <p:nvPr>
            <p:ph type="sldNum" idx="4"/>
          </p:nvPr>
        </p:nvSpPr>
        <p:spPr/>
        <p:txBody>
          <a:bodyPr spcFirstLastPara="1" vert="horz" wrap="square" lIns="0" tIns="0" rIns="0" bIns="0" anchor="b">
            <a:noAutofit/>
          </a:bodyPr>
          <a:lstStyle/>
          <a:p>
            <a:fld id="{EE5B3003-2C54-13C6-9832-7637201064DE}" type="slidenum">
              <a:rPr/>
              <a:t>5</a:t>
            </a:fld>
            <a:endParaRPr/>
          </a:p>
        </p:txBody>
      </p:sp>
      <p:sp>
        <p:nvSpPr>
          <p:cNvPr id="533" name="Google Shape;533;p58">
            <a:extLst>
              <a:ext uri="{FF2B5EF4-FFF2-40B4-BE49-F238E27FC236}">
                <a16:creationId xmlns:a16="http://schemas.microsoft.com/office/drawing/2014/main" id="{3A80AAE9-99DA-415B-48E5-DF2948540391}"/>
              </a:ext>
            </a:extLst>
          </p:cNvPr>
          <p:cNvSpPr>
            <a:spLocks noGrp="1"/>
          </p:cNvSpPr>
          <p:nvPr>
            <p:ph type="title"/>
          </p:nvPr>
        </p:nvSpPr>
        <p:spPr/>
        <p:txBody>
          <a:bodyPr spcFirstLastPara="1" vert="horz" wrap="square" lIns="0" tIns="0" rIns="0" bIns="0" anchor="t">
            <a:noAutofit/>
          </a:bodyPr>
          <a:lstStyle/>
          <a:p>
            <a:r>
              <a:rPr dirty="0"/>
              <a:t>The database preserves each decision</a:t>
            </a:r>
          </a:p>
        </p:txBody>
      </p:sp>
      <p:sp>
        <p:nvSpPr>
          <p:cNvPr id="8" name="Google Shape;534;p58">
            <a:extLst>
              <a:ext uri="{FF2B5EF4-FFF2-40B4-BE49-F238E27FC236}">
                <a16:creationId xmlns:a16="http://schemas.microsoft.com/office/drawing/2014/main" id="{33514EAC-B165-B2D5-733A-EDDA1BA94C46}"/>
              </a:ext>
            </a:extLst>
          </p:cNvPr>
          <p:cNvSpPr>
            <a:spLocks noGrp="1"/>
          </p:cNvSpPr>
          <p:nvPr/>
        </p:nvSpPr>
        <p:spPr>
          <a:xfrm>
            <a:off x="393668" y="1666875"/>
            <a:ext cx="3276600" cy="4327493"/>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a:lnSpc>
                <a:spcPct val="108000"/>
              </a:lnSpc>
              <a:spcBef>
                <a:spcPts val="0"/>
              </a:spcBef>
              <a:spcAft>
                <a:spcPts val="1500"/>
              </a:spcAft>
            </a:pPr>
            <a:r>
              <a:rPr sz="1950" dirty="0">
                <a:solidFill>
                  <a:srgbClr val="000000"/>
                </a:solidFill>
                <a:latin typeface="Helvetica Neue"/>
                <a:ea typeface="Helvetica Neue"/>
                <a:cs typeface="Helvetica Neue"/>
              </a:rPr>
              <a:t>A record of each order</a:t>
            </a:r>
          </a:p>
          <a:p>
            <a:pPr>
              <a:lnSpc>
                <a:spcPct val="108000"/>
              </a:lnSpc>
              <a:spcBef>
                <a:spcPts val="0"/>
              </a:spcBef>
              <a:spcAft>
                <a:spcPts val="1500"/>
              </a:spcAft>
            </a:pPr>
            <a:r>
              <a:rPr sz="1800" dirty="0">
                <a:solidFill>
                  <a:srgbClr val="000000"/>
                </a:solidFill>
                <a:latin typeface="Helvetica Neue"/>
                <a:ea typeface="Helvetica Neue"/>
                <a:cs typeface="Helvetica Neue"/>
              </a:rPr>
              <a:t>Who acted, when, and through which interface.</a:t>
            </a:r>
          </a:p>
          <a:p>
            <a:pPr>
              <a:lnSpc>
                <a:spcPct val="108000"/>
              </a:lnSpc>
              <a:spcBef>
                <a:spcPts val="0"/>
              </a:spcBef>
              <a:spcAft>
                <a:spcPts val="1500"/>
              </a:spcAft>
            </a:pPr>
            <a:r>
              <a:rPr sz="1800" dirty="0">
                <a:solidFill>
                  <a:srgbClr val="000000"/>
                </a:solidFill>
                <a:latin typeface="Helvetica Neue"/>
                <a:ea typeface="Helvetica Neue"/>
                <a:cs typeface="Helvetica Neue"/>
              </a:rPr>
              <a:t>The information available before the decision.</a:t>
            </a:r>
          </a:p>
          <a:p>
            <a:pPr>
              <a:lnSpc>
                <a:spcPct val="108000"/>
              </a:lnSpc>
              <a:spcBef>
                <a:spcPts val="0"/>
              </a:spcBef>
              <a:spcAft>
                <a:spcPts val="1500"/>
              </a:spcAft>
            </a:pPr>
            <a:r>
              <a:rPr sz="1800" dirty="0">
                <a:solidFill>
                  <a:srgbClr val="000000"/>
                </a:solidFill>
                <a:latin typeface="Helvetica Neue"/>
                <a:ea typeface="Helvetica Neue"/>
                <a:cs typeface="Helvetica Neue"/>
              </a:rPr>
              <a:t>The accepted or rejected order, resource cost and resulting state.</a:t>
            </a:r>
          </a:p>
          <a:p>
            <a:pPr>
              <a:lnSpc>
                <a:spcPct val="108000"/>
              </a:lnSpc>
              <a:spcBef>
                <a:spcPts val="0"/>
              </a:spcBef>
            </a:pPr>
            <a:r>
              <a:rPr sz="1800" dirty="0">
                <a:solidFill>
                  <a:srgbClr val="000000"/>
                </a:solidFill>
                <a:latin typeface="Helvetica Neue"/>
                <a:ea typeface="Helvetica Neue"/>
                <a:cs typeface="Helvetica Neue"/>
              </a:rPr>
              <a:t>Earlier exercises remain available for review.</a:t>
            </a:r>
          </a:p>
        </p:txBody>
      </p:sp>
      <p:pic>
        <p:nvPicPr>
          <p:cNvPr id="540" name="Picture 539"/>
          <p:cNvPicPr>
            <a:picLocks noChangeAspect="1"/>
          </p:cNvPicPr>
          <p:nvPr/>
        </p:nvPicPr>
        <p:blipFill>
          <a:blip r:embed="rId3"/>
          <a:stretch/>
        </p:blipFill>
        <p:spPr>
          <a:xfrm>
            <a:off x="4089368" y="1485909"/>
            <a:ext cx="7708868" cy="4336238"/>
          </a:xfrm>
          <a:prstGeom prst="roundRect">
            <a:avLst>
              <a:gd name="adj" fmla="val 1757"/>
            </a:avLst>
          </a:prstGeom>
        </p:spPr>
      </p:pic>
      <p:sp>
        <p:nvSpPr>
          <p:cNvPr id="535" name="Screenshot caption">
            <a:extLst>
              <a:ext uri="{FF2B5EF4-FFF2-40B4-BE49-F238E27FC236}">
                <a16:creationId xmlns:a16="http://schemas.microsoft.com/office/drawing/2014/main" id="{B09B1EBA-FAFB-4844-B04D-9B55F2908C1A}"/>
              </a:ext>
            </a:extLst>
          </p:cNvPr>
          <p:cNvSpPr>
            <a:spLocks noGrp="1"/>
          </p:cNvSpPr>
          <p:nvPr/>
        </p:nvSpPr>
        <p:spPr>
          <a:xfrm>
            <a:off x="4089368" y="5838825"/>
            <a:ext cx="7708868" cy="333375"/>
          </a:xfrm>
          <a:prstGeom prst="rect">
            <a:avLst/>
          </a:prstGeom>
          <a:noFill/>
          <a:ln w="0">
            <a:noFill/>
          </a:ln>
        </p:spPr>
        <p:txBody>
          <a:bodyPr lIns="0" tIns="0" rIns="0" bIns="0" anchor="t">
            <a:noAutofit/>
          </a:bodyPr>
          <a:lstStyle/>
          <a:p>
            <a:pPr marL="0" indent="0">
              <a:lnSpc>
                <a:spcPct val="108000"/>
              </a:lnSpc>
              <a:spcBef>
                <a:spcPts val="0"/>
              </a:spcBef>
              <a:spcAft>
                <a:spcPts val="0"/>
              </a:spcAft>
              <a:buNone/>
            </a:pPr>
            <a:r>
              <a:rPr sz="1350">
                <a:solidFill>
                  <a:srgbClr val="000000"/>
                </a:solidFill>
                <a:latin typeface="Helvetica Neue"/>
                <a:ea typeface="Helvetica Neue"/>
                <a:cs typeface="Helvetica Neue"/>
              </a:rPr>
              <a:t>Recorded example: move accepted, 2 points spent, 3 remaining</a:t>
            </a:r>
          </a:p>
        </p:txBody>
      </p:sp>
    </p:spTree>
    <p:extLst>
      <p:ext uri="{BB962C8B-B14F-4D97-AF65-F5344CB8AC3E}">
        <p14:creationId xmlns:p14="http://schemas.microsoft.com/office/powerpoint/2010/main" val="3245670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Google Shape;532;p58">
            <a:extLst>
              <a:ext uri="{FF2B5EF4-FFF2-40B4-BE49-F238E27FC236}">
                <a16:creationId xmlns:a16="http://schemas.microsoft.com/office/drawing/2014/main" id="{D4C92004-F6FC-8FE6-BAD5-82F7D96E79D7}"/>
              </a:ext>
            </a:extLst>
          </p:cNvPr>
          <p:cNvSpPr>
            <a:spLocks noGrp="1"/>
          </p:cNvSpPr>
          <p:nvPr>
            <p:ph type="sldNum" idx="4"/>
          </p:nvPr>
        </p:nvSpPr>
        <p:spPr/>
        <p:txBody>
          <a:bodyPr spcFirstLastPara="1" vert="horz" wrap="square" lIns="0" tIns="0" rIns="0" bIns="0" anchor="b">
            <a:noAutofit/>
          </a:bodyPr>
          <a:lstStyle/>
          <a:p>
            <a:fld id="{8C630A04-5A25-9E0C-9436-126091DB86B3}" type="slidenum">
              <a:rPr/>
              <a:t>6</a:t>
            </a:fld>
            <a:endParaRPr/>
          </a:p>
        </p:txBody>
      </p:sp>
      <p:sp>
        <p:nvSpPr>
          <p:cNvPr id="533" name="Google Shape;533;p58">
            <a:extLst>
              <a:ext uri="{FF2B5EF4-FFF2-40B4-BE49-F238E27FC236}">
                <a16:creationId xmlns:a16="http://schemas.microsoft.com/office/drawing/2014/main" id="{3A80AAE9-99DA-415B-48E5-DF2948540391}"/>
              </a:ext>
            </a:extLst>
          </p:cNvPr>
          <p:cNvSpPr>
            <a:spLocks noGrp="1"/>
          </p:cNvSpPr>
          <p:nvPr>
            <p:ph type="title"/>
          </p:nvPr>
        </p:nvSpPr>
        <p:spPr/>
        <p:txBody>
          <a:bodyPr spcFirstLastPara="1" vert="horz" wrap="square" lIns="0" tIns="0" rIns="0" bIns="0" anchor="t">
            <a:noAutofit/>
          </a:bodyPr>
          <a:lstStyle/>
          <a:p>
            <a:r>
              <a:rPr dirty="0"/>
              <a:t>Review, reflect and compare</a:t>
            </a:r>
          </a:p>
        </p:txBody>
      </p:sp>
      <p:sp>
        <p:nvSpPr>
          <p:cNvPr id="8" name="Google Shape;534;p58">
            <a:extLst>
              <a:ext uri="{FF2B5EF4-FFF2-40B4-BE49-F238E27FC236}">
                <a16:creationId xmlns:a16="http://schemas.microsoft.com/office/drawing/2014/main" id="{33514EAC-B165-B2D5-733A-EDDA1BA94C46}"/>
              </a:ext>
            </a:extLst>
          </p:cNvPr>
          <p:cNvSpPr>
            <a:spLocks noGrp="1"/>
          </p:cNvSpPr>
          <p:nvPr/>
        </p:nvSpPr>
        <p:spPr>
          <a:xfrm>
            <a:off x="393668" y="1666875"/>
            <a:ext cx="3276600" cy="4327493"/>
          </a:xfrm>
          <a:prstGeom prst="rect">
            <a:avLst/>
          </a:prstGeom>
        </p:spPr>
        <p:txBody>
          <a:bodyPr spcFirstLastPara="1" vert="horz" wrap="square" lIns="0" tIns="0" rIns="0" bIns="0" anchor="t">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a:lnSpc>
                <a:spcPct val="108000"/>
              </a:lnSpc>
              <a:spcBef>
                <a:spcPts val="0"/>
              </a:spcBef>
              <a:spcAft>
                <a:spcPts val="1400"/>
              </a:spcAft>
            </a:pPr>
            <a:r>
              <a:rPr sz="1950" dirty="0">
                <a:solidFill>
                  <a:srgbClr val="000000"/>
                </a:solidFill>
                <a:latin typeface="Helvetica Neue"/>
                <a:ea typeface="Helvetica Neue"/>
                <a:cs typeface="Helvetica Neue"/>
              </a:rPr>
              <a:t>Evidence for instruction</a:t>
            </a:r>
          </a:p>
          <a:p>
            <a:pPr>
              <a:lnSpc>
                <a:spcPct val="108000"/>
              </a:lnSpc>
              <a:spcBef>
                <a:spcPts val="0"/>
              </a:spcBef>
              <a:spcAft>
                <a:spcPts val="1400"/>
              </a:spcAft>
            </a:pPr>
            <a:r>
              <a:rPr sz="1800" dirty="0">
                <a:solidFill>
                  <a:srgbClr val="000000"/>
                </a:solidFill>
                <a:latin typeface="Helvetica Neue"/>
                <a:ea typeface="Helvetica Neue"/>
                <a:cs typeface="Helvetica Neue"/>
              </a:rPr>
              <a:t>Reconstruct actions and add reflections or rubric assessments.</a:t>
            </a:r>
          </a:p>
          <a:p>
            <a:pPr>
              <a:lnSpc>
                <a:spcPct val="108000"/>
              </a:lnSpc>
              <a:spcBef>
                <a:spcPts val="0"/>
              </a:spcBef>
              <a:spcAft>
                <a:spcPts val="1400"/>
              </a:spcAft>
            </a:pPr>
            <a:r>
              <a:rPr sz="1800" dirty="0">
                <a:solidFill>
                  <a:srgbClr val="000000"/>
                </a:solidFill>
                <a:latin typeface="Helvetica Neue"/>
                <a:ea typeface="Helvetica Neue"/>
                <a:cs typeface="Helvetica Neue"/>
              </a:rPr>
              <a:t>Compare compatible exercises and inspect resource use, friction and participation.</a:t>
            </a:r>
          </a:p>
          <a:p>
            <a:pPr>
              <a:lnSpc>
                <a:spcPct val="108000"/>
              </a:lnSpc>
              <a:spcBef>
                <a:spcPts val="0"/>
              </a:spcBef>
            </a:pPr>
            <a:r>
              <a:rPr sz="1800" dirty="0">
                <a:solidFill>
                  <a:srgbClr val="000000"/>
                </a:solidFill>
                <a:latin typeface="Helvetica Neue"/>
                <a:ea typeface="Helvetica Neue"/>
                <a:cs typeface="Helvetica Neue"/>
              </a:rPr>
              <a:t>Export records for discussion and further analysis.</a:t>
            </a:r>
          </a:p>
        </p:txBody>
      </p:sp>
      <p:pic>
        <p:nvPicPr>
          <p:cNvPr id="540" name="Picture 539"/>
          <p:cNvPicPr>
            <a:picLocks noChangeAspect="1"/>
          </p:cNvPicPr>
          <p:nvPr/>
        </p:nvPicPr>
        <p:blipFill>
          <a:blip r:embed="rId3"/>
          <a:stretch/>
        </p:blipFill>
        <p:spPr>
          <a:xfrm>
            <a:off x="4089368" y="1485909"/>
            <a:ext cx="7708868" cy="4336238"/>
          </a:xfrm>
          <a:prstGeom prst="roundRect">
            <a:avLst>
              <a:gd name="adj" fmla="val 1757"/>
            </a:avLst>
          </a:prstGeom>
        </p:spPr>
      </p:pic>
      <p:sp>
        <p:nvSpPr>
          <p:cNvPr id="535" name="Screenshot caption">
            <a:extLst>
              <a:ext uri="{FF2B5EF4-FFF2-40B4-BE49-F238E27FC236}">
                <a16:creationId xmlns:a16="http://schemas.microsoft.com/office/drawing/2014/main" id="{B2C4DD85-7FFB-4E3E-858F-3669395A59D5}"/>
              </a:ext>
            </a:extLst>
          </p:cNvPr>
          <p:cNvSpPr>
            <a:spLocks noGrp="1"/>
          </p:cNvSpPr>
          <p:nvPr/>
        </p:nvSpPr>
        <p:spPr>
          <a:xfrm>
            <a:off x="4089368" y="5838825"/>
            <a:ext cx="7708868" cy="333375"/>
          </a:xfrm>
          <a:prstGeom prst="rect">
            <a:avLst/>
          </a:prstGeom>
          <a:noFill/>
          <a:ln w="0">
            <a:noFill/>
          </a:ln>
        </p:spPr>
        <p:txBody>
          <a:bodyPr lIns="0" tIns="0" rIns="0" bIns="0" anchor="t">
            <a:noAutofit/>
          </a:bodyPr>
          <a:lstStyle/>
          <a:p>
            <a:pPr marL="0" indent="0">
              <a:lnSpc>
                <a:spcPct val="108000"/>
              </a:lnSpc>
              <a:spcBef>
                <a:spcPts val="0"/>
              </a:spcBef>
              <a:spcAft>
                <a:spcPts val="0"/>
              </a:spcAft>
              <a:buNone/>
            </a:pPr>
            <a:r>
              <a:rPr sz="1350">
                <a:solidFill>
                  <a:srgbClr val="000000"/>
                </a:solidFill>
                <a:latin typeface="Helvetica Neue"/>
                <a:ea typeface="Helvetica Neue"/>
                <a:cs typeface="Helvetica Neue"/>
              </a:rPr>
              <a:t>Demo: 5 orders, 0 rejections. Activity measures do not establish learning.</a:t>
            </a:r>
          </a:p>
        </p:txBody>
      </p:sp>
    </p:spTree>
    <p:extLst>
      <p:ext uri="{BB962C8B-B14F-4D97-AF65-F5344CB8AC3E}">
        <p14:creationId xmlns:p14="http://schemas.microsoft.com/office/powerpoint/2010/main" val="3245670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79DB2A-CC47-00B8-FE1C-26473E47EA9C}"/>
              </a:ext>
            </a:extLst>
          </p:cNvPr>
          <p:cNvSpPr>
            <a:spLocks noGrp="1"/>
          </p:cNvSpPr>
          <p:nvPr>
            <p:ph type="sldNum" idx="4"/>
          </p:nvPr>
        </p:nvSpPr>
        <p:spPr>
          <a:xfrm>
            <a:off x="11279188" y="6278563"/>
            <a:ext cx="519112" cy="241300"/>
          </a:xfrm>
        </p:spPr>
        <p:txBody>
          <a:bodyPr/>
          <a:lstStyle/>
          <a:p>
            <a:fld id="{D3D7D1C8-AE23-AA48-DF65-C742588DBE47}" type="slidenum">
              <a:rPr/>
              <a:t>7</a:t>
            </a:fld>
            <a:endParaRPr/>
          </a:p>
        </p:txBody>
      </p:sp>
      <p:sp>
        <p:nvSpPr>
          <p:cNvPr id="3" name="Title 2">
            <a:extLst>
              <a:ext uri="{FF2B5EF4-FFF2-40B4-BE49-F238E27FC236}">
                <a16:creationId xmlns:a16="http://schemas.microsoft.com/office/drawing/2014/main" id="{89BFFB18-4CB5-6BE2-9B1E-49B4101293F1}"/>
              </a:ext>
            </a:extLst>
          </p:cNvPr>
          <p:cNvSpPr>
            <a:spLocks noGrp="1"/>
          </p:cNvSpPr>
          <p:nvPr>
            <p:ph type="title"/>
          </p:nvPr>
        </p:nvSpPr>
        <p:spPr>
          <a:xfrm>
            <a:off x="393700" y="344008"/>
            <a:ext cx="11404600" cy="1047491"/>
          </a:xfrm>
        </p:spPr>
        <p:txBody>
          <a:bodyPr/>
          <a:lstStyle/>
          <a:p>
            <a:r>
              <a:t>Future development</a:t>
            </a:r>
          </a:p>
        </p:txBody>
      </p:sp>
      <p:sp>
        <p:nvSpPr>
          <p:cNvPr id="10" name="Content Placeholder 9">
            <a:extLst>
              <a:ext uri="{FF2B5EF4-FFF2-40B4-BE49-F238E27FC236}">
                <a16:creationId xmlns:a16="http://schemas.microsoft.com/office/drawing/2014/main" id="{40C911A7-2999-5B10-850F-7785C571AE51}"/>
              </a:ext>
            </a:extLst>
          </p:cNvPr>
          <p:cNvSpPr>
            <a:spLocks noGrp="1"/>
          </p:cNvSpPr>
          <p:nvPr>
            <p:ph idx="4294967295"/>
          </p:nvPr>
        </p:nvSpPr>
        <p:spPr>
          <a:xfrm>
            <a:off x="393700" y="2032000"/>
            <a:ext cx="5537200" cy="1643063"/>
          </a:xfrm>
        </p:spPr>
        <p:txBody>
          <a:bodyPr>
            <a:noAutofit/>
          </a:bodyPr>
          <a:lstStyle/>
          <a:p>
            <a:pPr marL="0" indent="0">
              <a:spcAft>
                <a:spcPts val="850"/>
              </a:spcAft>
              <a:buNone/>
            </a:pPr>
            <a:r>
              <a:rPr sz="2400" dirty="0">
                <a:solidFill>
                  <a:srgbClr val="000000"/>
                </a:solidFill>
                <a:latin typeface="Helvetica Neue"/>
                <a:ea typeface="Helvetica Neue"/>
                <a:cs typeface="Helvetica Neue"/>
              </a:rPr>
              <a:t>Platform connections</a:t>
            </a:r>
          </a:p>
          <a:p>
            <a:r>
              <a:rPr sz="1800" dirty="0">
                <a:solidFill>
                  <a:srgbClr val="000000"/>
                </a:solidFill>
                <a:latin typeface="Helvetica Neue"/>
                <a:ea typeface="Helvetica Neue"/>
                <a:cs typeface="Helvetica Neue"/>
              </a:rPr>
              <a:t>An API to connect other board gaming platforms to a shared exercise.</a:t>
            </a:r>
          </a:p>
        </p:txBody>
      </p:sp>
      <p:sp>
        <p:nvSpPr>
          <p:cNvPr id="11" name="Content Placeholder 10">
            <a:extLst>
              <a:ext uri="{FF2B5EF4-FFF2-40B4-BE49-F238E27FC236}">
                <a16:creationId xmlns:a16="http://schemas.microsoft.com/office/drawing/2014/main" id="{9591DE77-626F-6364-307D-6A3CECC3E0AC}"/>
              </a:ext>
            </a:extLst>
          </p:cNvPr>
          <p:cNvSpPr>
            <a:spLocks noGrp="1"/>
          </p:cNvSpPr>
          <p:nvPr>
            <p:ph idx="4294967295"/>
          </p:nvPr>
        </p:nvSpPr>
        <p:spPr>
          <a:xfrm>
            <a:off x="6256618" y="2032000"/>
            <a:ext cx="5537200" cy="1643063"/>
          </a:xfrm>
        </p:spPr>
        <p:txBody>
          <a:bodyPr>
            <a:noAutofit/>
          </a:bodyPr>
          <a:lstStyle/>
          <a:p>
            <a:pPr marL="0" indent="0">
              <a:spcAft>
                <a:spcPts val="850"/>
              </a:spcAft>
              <a:buNone/>
            </a:pPr>
            <a:r>
              <a:rPr sz="2400" dirty="0">
                <a:solidFill>
                  <a:srgbClr val="000000"/>
                </a:solidFill>
                <a:latin typeface="Helvetica Neue"/>
                <a:ea typeface="Helvetica Neue"/>
                <a:cs typeface="Helvetica Neue"/>
              </a:rPr>
              <a:t>Remote tabletop presence</a:t>
            </a:r>
          </a:p>
          <a:p>
            <a:r>
              <a:rPr sz="1800" dirty="0">
                <a:solidFill>
                  <a:srgbClr val="000000"/>
                </a:solidFill>
                <a:latin typeface="Helvetica Neue"/>
                <a:ea typeface="Helvetica Neue"/>
                <a:cs typeface="Helvetica Neue"/>
              </a:rPr>
              <a:t>Avatars around the board, with participants moving pieces together from different locations.</a:t>
            </a:r>
          </a:p>
        </p:txBody>
      </p:sp>
      <p:sp>
        <p:nvSpPr>
          <p:cNvPr id="4" name="Content Placeholder 9">
            <a:extLst>
              <a:ext uri="{FF2B5EF4-FFF2-40B4-BE49-F238E27FC236}">
                <a16:creationId xmlns:a16="http://schemas.microsoft.com/office/drawing/2014/main" id="{5FBFFE27-6CE4-D49E-8371-7F40817D25C4}"/>
              </a:ext>
            </a:extLst>
          </p:cNvPr>
          <p:cNvSpPr>
            <a:spLocks noGrp="1"/>
          </p:cNvSpPr>
          <p:nvPr/>
        </p:nvSpPr>
        <p:spPr>
          <a:xfrm>
            <a:off x="393700" y="4016975"/>
            <a:ext cx="5537200" cy="1643185"/>
          </a:xfrm>
          <a:prstGeom prst="rect">
            <a:avLst/>
          </a:prstGeom>
        </p:spPr>
        <p:txBody>
          <a:bodyPr vert="horz" lIns="0" tIns="0" rIns="0" bIns="0">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850"/>
              </a:spcAft>
              <a:buNone/>
            </a:pPr>
            <a:r>
              <a:rPr sz="2400" dirty="0">
                <a:solidFill>
                  <a:srgbClr val="000000"/>
                </a:solidFill>
                <a:latin typeface="Helvetica Neue"/>
                <a:ea typeface="Helvetica Neue"/>
                <a:cs typeface="Helvetica Neue"/>
              </a:rPr>
              <a:t>Broader headset support</a:t>
            </a:r>
          </a:p>
          <a:p>
            <a:r>
              <a:rPr sz="1800" dirty="0">
                <a:solidFill>
                  <a:srgbClr val="000000"/>
                </a:solidFill>
                <a:latin typeface="Helvetica Neue"/>
                <a:ea typeface="Helvetica Neue"/>
                <a:cs typeface="Helvetica Neue"/>
              </a:rPr>
              <a:t>Connect players across VR headsets and browsers, with shared state and consistent controls.</a:t>
            </a:r>
          </a:p>
        </p:txBody>
      </p:sp>
      <p:sp>
        <p:nvSpPr>
          <p:cNvPr id="5" name="Content Placeholder 10">
            <a:extLst>
              <a:ext uri="{FF2B5EF4-FFF2-40B4-BE49-F238E27FC236}">
                <a16:creationId xmlns:a16="http://schemas.microsoft.com/office/drawing/2014/main" id="{D6F50C40-7DBA-55A3-751E-00E97654E163}"/>
              </a:ext>
            </a:extLst>
          </p:cNvPr>
          <p:cNvSpPr>
            <a:spLocks noGrp="1"/>
          </p:cNvSpPr>
          <p:nvPr/>
        </p:nvSpPr>
        <p:spPr>
          <a:xfrm>
            <a:off x="6256618" y="4016975"/>
            <a:ext cx="5537200" cy="1643185"/>
          </a:xfrm>
          <a:prstGeom prst="rect">
            <a:avLst/>
          </a:prstGeom>
        </p:spPr>
        <p:txBody>
          <a:bodyPr vert="horz" lIns="0" tIns="0" rIns="0" bIns="0">
            <a:noAutofit/>
          </a:bodyPr>
          <a:lstStyle>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spcAft>
                <a:spcPts val="850"/>
              </a:spcAft>
              <a:buNone/>
            </a:pPr>
            <a:r>
              <a:rPr sz="2400" dirty="0">
                <a:solidFill>
                  <a:srgbClr val="000000"/>
                </a:solidFill>
                <a:latin typeface="Helvetica Neue"/>
                <a:ea typeface="Helvetica Neue"/>
                <a:cs typeface="Helvetica Neue"/>
              </a:rPr>
              <a:t>AI that teaches better</a:t>
            </a:r>
          </a:p>
          <a:p>
            <a:r>
              <a:rPr sz="1800" dirty="0">
                <a:solidFill>
                  <a:srgbClr val="000000"/>
                </a:solidFill>
                <a:latin typeface="Helvetica Neue"/>
                <a:ea typeface="Helvetica Neue"/>
                <a:cs typeface="Helvetica Neue"/>
              </a:rPr>
              <a:t>Use instructor feedback to improve explanations and test whether lessons transfer to a new scenario.</a:t>
            </a:r>
          </a:p>
        </p:txBody>
      </p:sp>
    </p:spTree>
    <p:extLst>
      <p:ext uri="{BB962C8B-B14F-4D97-AF65-F5344CB8AC3E}">
        <p14:creationId xmlns:p14="http://schemas.microsoft.com/office/powerpoint/2010/main" val="360145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9AC8B6-148F-970D-D8DE-AD2E0AB19BC8}"/>
              </a:ext>
            </a:extLst>
          </p:cNvPr>
          <p:cNvSpPr>
            <a:spLocks noGrp="1"/>
          </p:cNvSpPr>
          <p:nvPr>
            <p:ph type="ctrTitle"/>
          </p:nvPr>
        </p:nvSpPr>
        <p:spPr>
          <a:xfrm>
            <a:off x="393700" y="1738755"/>
            <a:ext cx="9448800" cy="2491490"/>
          </a:xfrm>
        </p:spPr>
        <p:txBody>
          <a:bodyPr>
            <a:noAutofit/>
          </a:bodyPr>
          <a:lstStyle/>
          <a:p>
            <a:r>
              <a:rPr sz="7200"/>
              <a:t>Questions</a:t>
            </a:r>
          </a:p>
        </p:txBody>
      </p:sp>
      <p:sp>
        <p:nvSpPr>
          <p:cNvPr id="5" name="Subtitle 4">
            <a:extLst>
              <a:ext uri="{FF2B5EF4-FFF2-40B4-BE49-F238E27FC236}">
                <a16:creationId xmlns:a16="http://schemas.microsoft.com/office/drawing/2014/main" id="{A8E1F2E1-786A-48AE-5E52-007228284270}"/>
              </a:ext>
            </a:extLst>
          </p:cNvPr>
          <p:cNvSpPr>
            <a:spLocks noGrp="1"/>
          </p:cNvSpPr>
          <p:nvPr>
            <p:ph type="subTitle" idx="1"/>
          </p:nvPr>
        </p:nvSpPr>
        <p:spPr>
          <a:xfrm>
            <a:off x="393700" y="4973320"/>
            <a:ext cx="3568700" cy="1080246"/>
          </a:xfrm>
        </p:spPr>
        <p:txBody>
          <a:bodyPr>
            <a:noAutofit/>
          </a:bodyPr>
          <a:lstStyle/>
          <a:p>
            <a:pPr marL="0" indent="0">
              <a:spcAft>
                <a:spcPts val="0"/>
              </a:spcAft>
              <a:buNone/>
            </a:pPr>
            <a:r>
              <a:rPr sz="2000">
                <a:solidFill>
                  <a:srgbClr val="000000"/>
                </a:solidFill>
                <a:latin typeface="Helvetica Neue"/>
                <a:ea typeface="Helvetica Neue"/>
                <a:cs typeface="Helvetica Neue"/>
              </a:rPr>
              <a:t>Fabio Garcia</a:t>
            </a:r>
          </a:p>
        </p:txBody>
      </p:sp>
      <p:sp>
        <p:nvSpPr>
          <p:cNvPr id="6" name="Subtitle 4">
            <a:extLst>
              <a:ext uri="{FF2B5EF4-FFF2-40B4-BE49-F238E27FC236}">
                <a16:creationId xmlns:a16="http://schemas.microsoft.com/office/drawing/2014/main" id="{A94AB779-D110-4562-575A-800C929A77DB}"/>
              </a:ext>
            </a:extLst>
          </p:cNvPr>
          <p:cNvSpPr>
            <a:spLocks noGrp="1"/>
          </p:cNvSpPr>
          <p:nvPr/>
        </p:nvSpPr>
        <p:spPr>
          <a:xfrm>
            <a:off x="393700" y="392241"/>
            <a:ext cx="1612900" cy="649159"/>
          </a:xfrm>
          <a:prstGeom prst="rect">
            <a:avLst/>
          </a:prstGeom>
        </p:spPr>
        <p:txBody>
          <a:bodyPr vert="horz" lIns="0" tIns="0" rIns="0" bIns="0">
            <a:noAutofit/>
          </a:bodyPr>
          <a:lstStyle>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a:r>
              <a:rPr sz="1800"/>
              <a:t>XRiegsspiel</a:t>
            </a:r>
          </a:p>
        </p:txBody>
      </p:sp>
    </p:spTree>
    <p:extLst>
      <p:ext uri="{BB962C8B-B14F-4D97-AF65-F5344CB8AC3E}">
        <p14:creationId xmlns:p14="http://schemas.microsoft.com/office/powerpoint/2010/main" val="3653678558"/>
      </p:ext>
    </p:extLst>
  </p:cSld>
  <p:clrMapOvr>
    <a:masterClrMapping/>
  </p:clrMapOvr>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1700</Words>
  <Application>Microsoft Macintosh PowerPoint</Application>
  <DocSecurity>0</DocSecurity>
  <PresentationFormat>Widescreen</PresentationFormat>
  <Paragraphs>119</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Helvetica Neue</vt:lpstr>
      <vt:lpstr>Default Codex Theme</vt:lpstr>
      <vt:lpstr>Xriegsspiel</vt:lpstr>
      <vt:lpstr>The learning problem</vt:lpstr>
      <vt:lpstr>Inside XRiegsspiel</vt:lpstr>
      <vt:lpstr>AI opponent and guide</vt:lpstr>
      <vt:lpstr>The database preserves each decision</vt:lpstr>
      <vt:lpstr>Review, reflect and compare</vt:lpstr>
      <vt:lpstr>Future development</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Fabio Garcia</cp:lastModifiedBy>
  <cp:revision>2</cp:revision>
  <dcterms:created xsi:type="dcterms:W3CDTF">2026-09-17T04:19:06Z</dcterms:created>
  <dcterms:modified xsi:type="dcterms:W3CDTF">2026-09-17T05:05:36Z</dcterms:modified>
</cp:coreProperties>
</file>